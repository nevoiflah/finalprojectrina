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26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jp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9.png"/><Relationship Id="rId9" Type="http://schemas.openxmlformats.org/officeDocument/2006/relationships/image" Target="../media/image30.pn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9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6.xml.rels><?xml version="1.0" encoding="UTF-8"?>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4.png"/><Relationship Id="rId21" Type="http://schemas.openxmlformats.org/officeDocument/2006/relationships/image" Target="../media/image6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9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/Relationships>
</file>

<file path=ppt/slides/_rels/slide7.xml.rels><?xml version="1.0" encoding="UTF-8"?>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9.png"/><Relationship Id="rId9" Type="http://schemas.openxmlformats.org/officeDocument/2006/relationships/image" Target="../media/image68.png"/></Relationships>
</file>

<file path=ppt/slides/_rels/slide8.xml.rels><?xml version="1.0" encoding="UTF-8"?>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9.png"/><Relationship Id="rId9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0"/>
            <a:ext cx="1524000" cy="1524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72000"/>
            <a:ext cx="2286000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762000"/>
            <a:ext cx="1219200" cy="121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600" y="4419600"/>
            <a:ext cx="914400" cy="914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800" y="3333750"/>
            <a:ext cx="9144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629400"/>
            <a:ext cx="12192000" cy="2286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981200" y="1733550"/>
            <a:ext cx="82296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ctr" rtl="1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מעטפת TTS ו-STT לרובוטים וירטואליים ופיזיים משופרים ב-GenAI</a:t>
            </a:r>
            <a:endParaRPr lang="en-US" sz="3600" dirty="0"/>
          </a:p>
        </p:txBody>
      </p:sp>
      <p:sp>
        <p:nvSpPr>
          <p:cNvPr id="10" name="Text 1"/>
          <p:cNvSpPr/>
          <p:nvPr/>
        </p:nvSpPr>
        <p:spPr>
          <a:xfrm>
            <a:off x="1981200" y="3676650"/>
            <a:ext cx="822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פרויקט גמר בפיתוח מערכות תוכנה</a:t>
            </a:r>
            <a:endParaRPr lang="en-US" sz="1800" dirty="0"/>
          </a:p>
        </p:txBody>
      </p:sp>
      <p:sp>
        <p:nvSpPr>
          <p:cNvPr id="11" name="Text 2"/>
          <p:cNvSpPr/>
          <p:nvPr/>
        </p:nvSpPr>
        <p:spPr>
          <a:xfrm>
            <a:off x="1981200" y="4057650"/>
            <a:ext cx="822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המכללה האקדמית רופין</a:t>
            </a:r>
            <a:endParaRPr lang="en-US" sz="1800" dirty="0"/>
          </a:p>
        </p:txBody>
      </p:sp>
      <p:sp>
        <p:nvSpPr>
          <p:cNvPr id="12" name="Text 3"/>
          <p:cNvSpPr/>
          <p:nvPr/>
        </p:nvSpPr>
        <p:spPr>
          <a:xfrm>
            <a:off x="1981200" y="4438650"/>
            <a:ext cx="822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מנחה: ד"ר רינה צביאל-גירשין</a:t>
            </a:r>
            <a:endParaRPr lang="en-US" sz="1800" dirty="0"/>
          </a:p>
        </p:txBody>
      </p:sp>
      <p:sp>
        <p:nvSpPr>
          <p:cNvPr id="13" name="Text 4"/>
          <p:cNvSpPr/>
          <p:nvPr/>
        </p:nvSpPr>
        <p:spPr>
          <a:xfrm>
            <a:off x="1158240" y="4819650"/>
            <a:ext cx="98755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שנת לימודים: תשפ"ו (2025-2026)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4292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476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1875" y="1228725"/>
            <a:ext cx="381000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0925" y="2200275"/>
            <a:ext cx="3429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1875" y="3171825"/>
            <a:ext cx="3810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68075" y="4143375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000500"/>
            <a:ext cx="12192000" cy="142875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80851" y="381000"/>
            <a:ext cx="11049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 והצגת הנושא</a:t>
            </a:r>
            <a:endParaRPr lang="en-US" sz="2700" dirty="0"/>
          </a:p>
        </p:txBody>
      </p:sp>
      <p:sp>
        <p:nvSpPr>
          <p:cNvPr id="10" name="Text 1"/>
          <p:cNvSpPr/>
          <p:nvPr/>
        </p:nvSpPr>
        <p:spPr>
          <a:xfrm>
            <a:off x="418951" y="1162050"/>
            <a:ext cx="10382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הנושא:</a:t>
            </a:r>
            <a:endParaRPr lang="en-US" sz="1800" dirty="0"/>
          </a:p>
        </p:txBody>
      </p:sp>
      <p:sp>
        <p:nvSpPr>
          <p:cNvPr id="11" name="Text 2"/>
          <p:cNvSpPr/>
          <p:nvPr/>
        </p:nvSpPr>
        <p:spPr>
          <a:xfrm>
            <a:off x="-1647974" y="1543050"/>
            <a:ext cx="12458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 מערכת Wrapper המשלבת דיבור (TTS/STT) ובינה מלאכותית (GenAI).</a:t>
            </a:r>
            <a:endParaRPr lang="en-US" sz="1800" dirty="0"/>
          </a:p>
        </p:txBody>
      </p:sp>
      <p:sp>
        <p:nvSpPr>
          <p:cNvPr id="12" name="Text 3"/>
          <p:cNvSpPr/>
          <p:nvPr/>
        </p:nvSpPr>
        <p:spPr>
          <a:xfrm>
            <a:off x="418951" y="2133600"/>
            <a:ext cx="10382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המצב כיום:</a:t>
            </a:r>
            <a:endParaRPr lang="en-US" sz="1800" dirty="0"/>
          </a:p>
        </p:txBody>
      </p:sp>
      <p:sp>
        <p:nvSpPr>
          <p:cNvPr id="13" name="Text 4"/>
          <p:cNvSpPr/>
          <p:nvPr/>
        </p:nvSpPr>
        <p:spPr>
          <a:xfrm>
            <a:off x="-1657350" y="2514600"/>
            <a:ext cx="12458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אינטראקציה מוגבלת לממשקים גרפיים או דורשת ידע בתכנות.</a:t>
            </a:r>
            <a:endParaRPr lang="en-US" sz="1800" dirty="0"/>
          </a:p>
        </p:txBody>
      </p:sp>
      <p:sp>
        <p:nvSpPr>
          <p:cNvPr id="14" name="Text 5"/>
          <p:cNvSpPr/>
          <p:nvPr/>
        </p:nvSpPr>
        <p:spPr>
          <a:xfrm>
            <a:off x="418951" y="3105150"/>
            <a:ext cx="10382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הצורך:</a:t>
            </a:r>
            <a:endParaRPr lang="en-US" sz="1800" dirty="0"/>
          </a:p>
        </p:txBody>
      </p:sp>
      <p:sp>
        <p:nvSpPr>
          <p:cNvPr id="15" name="Text 6"/>
          <p:cNvSpPr/>
          <p:nvPr/>
        </p:nvSpPr>
        <p:spPr>
          <a:xfrm>
            <a:off x="-1657499" y="3486150"/>
            <a:ext cx="12458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אינטראקציה טבעית בשפה מדוברת לאוכלוסיות שאינן טכנולוגיות (קשישים, בעלי מוגבלויות).</a:t>
            </a:r>
            <a:endParaRPr lang="en-US" sz="1800" dirty="0"/>
          </a:p>
        </p:txBody>
      </p:sp>
      <p:sp>
        <p:nvSpPr>
          <p:cNvPr id="16" name="Text 7"/>
          <p:cNvSpPr/>
          <p:nvPr/>
        </p:nvSpPr>
        <p:spPr>
          <a:xfrm>
            <a:off x="418951" y="4076700"/>
            <a:ext cx="10382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תחומי יישום:</a:t>
            </a:r>
            <a:endParaRPr lang="en-US" sz="1800" dirty="0"/>
          </a:p>
        </p:txBody>
      </p:sp>
      <p:sp>
        <p:nvSpPr>
          <p:cNvPr id="17" name="Text 8"/>
          <p:cNvSpPr/>
          <p:nvPr/>
        </p:nvSpPr>
        <p:spPr>
          <a:xfrm>
            <a:off x="-1657350" y="4457700"/>
            <a:ext cx="12458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חינוך (מורים וירטואליים), בריאות, שירות לקוחות.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257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476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1143000"/>
            <a:ext cx="3530501" cy="133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750" y="16002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0750" y="1143000"/>
            <a:ext cx="3530650" cy="1333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7024" y="1600200"/>
            <a:ext cx="47625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649" y="1143000"/>
            <a:ext cx="3530501" cy="1333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7775" y="1600200"/>
            <a:ext cx="47625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2971800"/>
            <a:ext cx="11049000" cy="1905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2800" y="3681413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3829050"/>
            <a:ext cx="12192000" cy="142875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-1857524" y="381000"/>
            <a:ext cx="132588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ספרות וטכנולוגיות קיימות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8128099" y="1200150"/>
            <a:ext cx="23875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800" dirty="0"/>
          </a:p>
        </p:txBody>
      </p:sp>
      <p:sp>
        <p:nvSpPr>
          <p:cNvPr id="15" name="Text 2"/>
          <p:cNvSpPr/>
          <p:nvPr/>
        </p:nvSpPr>
        <p:spPr>
          <a:xfrm>
            <a:off x="8185100" y="1600200"/>
            <a:ext cx="23875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דיוק גבוה ומודלים גנרטיביים מתקדמים</a:t>
            </a:r>
            <a:endParaRPr lang="en-US" sz="1350" dirty="0"/>
          </a:p>
        </p:txBody>
      </p:sp>
      <p:sp>
        <p:nvSpPr>
          <p:cNvPr id="16" name="Text 3"/>
          <p:cNvSpPr/>
          <p:nvPr/>
        </p:nvSpPr>
        <p:spPr>
          <a:xfrm>
            <a:off x="7688550" y="2133600"/>
            <a:ext cx="28650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אך עלות גבוהה</a:t>
            </a:r>
            <a:endParaRPr lang="en-US" sz="1350" dirty="0"/>
          </a:p>
        </p:txBody>
      </p:sp>
      <p:sp>
        <p:nvSpPr>
          <p:cNvPr id="17" name="Text 4"/>
          <p:cNvSpPr/>
          <p:nvPr/>
        </p:nvSpPr>
        <p:spPr>
          <a:xfrm>
            <a:off x="4102150" y="1184958"/>
            <a:ext cx="28651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1800" dirty="0"/>
          </a:p>
        </p:txBody>
      </p:sp>
      <p:sp>
        <p:nvSpPr>
          <p:cNvPr id="18" name="Text 5"/>
          <p:cNvSpPr/>
          <p:nvPr/>
        </p:nvSpPr>
        <p:spPr>
          <a:xfrm>
            <a:off x="4406801" y="1600200"/>
            <a:ext cx="23876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אמינות גבוהה ותמיכה במגוון שפות</a:t>
            </a:r>
            <a:endParaRPr lang="en-US" sz="1350" dirty="0"/>
          </a:p>
        </p:txBody>
      </p:sp>
      <p:sp>
        <p:nvSpPr>
          <p:cNvPr id="19" name="Text 6"/>
          <p:cNvSpPr/>
          <p:nvPr/>
        </p:nvSpPr>
        <p:spPr>
          <a:xfrm>
            <a:off x="3929271" y="2133600"/>
            <a:ext cx="28651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אך תלות בענן</a:t>
            </a:r>
            <a:endParaRPr lang="en-US" sz="1350" dirty="0"/>
          </a:p>
        </p:txBody>
      </p:sp>
      <p:sp>
        <p:nvSpPr>
          <p:cNvPr id="20" name="Text 7"/>
          <p:cNvSpPr/>
          <p:nvPr/>
        </p:nvSpPr>
        <p:spPr>
          <a:xfrm>
            <a:off x="343049" y="1200150"/>
            <a:ext cx="28650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AWS</a:t>
            </a:r>
            <a:endParaRPr lang="en-US" sz="1800" dirty="0"/>
          </a:p>
        </p:txBody>
      </p:sp>
      <p:sp>
        <p:nvSpPr>
          <p:cNvPr id="21" name="Text 8"/>
          <p:cNvSpPr/>
          <p:nvPr/>
        </p:nvSpPr>
        <p:spPr>
          <a:xfrm>
            <a:off x="170200" y="1733550"/>
            <a:ext cx="28650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מחיר תחרותי ומגוון שירותים</a:t>
            </a:r>
            <a:endParaRPr lang="en-US" sz="1350" dirty="0"/>
          </a:p>
        </p:txBody>
      </p:sp>
      <p:sp>
        <p:nvSpPr>
          <p:cNvPr id="22" name="Text 9"/>
          <p:cNvSpPr/>
          <p:nvPr/>
        </p:nvSpPr>
        <p:spPr>
          <a:xfrm>
            <a:off x="170200" y="2000250"/>
            <a:ext cx="28650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אך אינטגרציה מורכבת</a:t>
            </a:r>
            <a:endParaRPr lang="en-US" sz="1350" dirty="0"/>
          </a:p>
        </p:txBody>
      </p:sp>
      <p:sp>
        <p:nvSpPr>
          <p:cNvPr id="23" name="Text 10"/>
          <p:cNvSpPr/>
          <p:nvPr/>
        </p:nvSpPr>
        <p:spPr>
          <a:xfrm>
            <a:off x="4581227" y="3162300"/>
            <a:ext cx="601057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המסקנה: חוסר סטנדרטיזציה</a:t>
            </a:r>
            <a:endParaRPr lang="en-US" sz="1800" dirty="0"/>
          </a:p>
        </p:txBody>
      </p:sp>
      <p:sp>
        <p:nvSpPr>
          <p:cNvPr id="24" name="Text 11"/>
          <p:cNvSpPr/>
          <p:nvPr/>
        </p:nvSpPr>
        <p:spPr>
          <a:xfrm>
            <a:off x="4628852" y="3543300"/>
            <a:ext cx="60105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ספק דורש מימוש שונה לחלוטין (Fragmentation), מה שיוצר:</a:t>
            </a:r>
            <a:endParaRPr lang="en-US" sz="1500" dirty="0"/>
          </a:p>
        </p:txBody>
      </p:sp>
      <p:sp>
        <p:nvSpPr>
          <p:cNvPr id="25" name="Text 12"/>
          <p:cNvSpPr/>
          <p:nvPr/>
        </p:nvSpPr>
        <p:spPr>
          <a:xfrm>
            <a:off x="5544889" y="3886200"/>
            <a:ext cx="49707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קושי בהחלפת ספקים</a:t>
            </a:r>
            <a:endParaRPr lang="en-US" sz="1500" dirty="0"/>
          </a:p>
        </p:txBody>
      </p:sp>
      <p:sp>
        <p:nvSpPr>
          <p:cNvPr id="26" name="Text 13"/>
          <p:cNvSpPr/>
          <p:nvPr/>
        </p:nvSpPr>
        <p:spPr>
          <a:xfrm>
            <a:off x="3556605" y="4152900"/>
            <a:ext cx="59648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עקומת למידה תלולה למפתחים</a:t>
            </a:r>
            <a:endParaRPr lang="en-US" sz="1500" dirty="0"/>
          </a:p>
        </p:txBody>
      </p:sp>
      <p:sp>
        <p:nvSpPr>
          <p:cNvPr id="27" name="Text 14"/>
          <p:cNvSpPr/>
          <p:nvPr/>
        </p:nvSpPr>
        <p:spPr>
          <a:xfrm>
            <a:off x="3556605" y="4419600"/>
            <a:ext cx="59648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 כפול ומורכבות תחזוקה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334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476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43000"/>
            <a:ext cx="11049000" cy="971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6625" y="1295400"/>
            <a:ext cx="28575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87125" y="2838450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87125" y="3371850"/>
            <a:ext cx="28575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981450"/>
            <a:ext cx="11049000" cy="9715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9963" y="4133850"/>
            <a:ext cx="219075" cy="285750"/>
          </a:xfrm>
          <a:prstGeom prst="rect">
            <a:avLst/>
          </a:prstGeom>
        </p:spPr>
      </p:pic>
      <p:pic>
        <p:nvPicPr>
          <p:cNvPr id="10" name="Image 8" descr="https://picture-search.skywork.ai/aippt/image/sheet/7f6bdafd376af695ff53de40abb6d397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951" y="5040660"/>
            <a:ext cx="1905000" cy="177924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342751" y="381000"/>
            <a:ext cx="11049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הגדרת הבעיה ומטרת הפרויקט</a:t>
            </a:r>
            <a:endParaRPr lang="en-US" sz="2700" dirty="0"/>
          </a:p>
        </p:txBody>
      </p:sp>
      <p:sp>
        <p:nvSpPr>
          <p:cNvPr id="12" name="Text 1"/>
          <p:cNvSpPr/>
          <p:nvPr/>
        </p:nvSpPr>
        <p:spPr>
          <a:xfrm>
            <a:off x="5251103" y="1285875"/>
            <a:ext cx="550247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 המרכזית:</a:t>
            </a:r>
            <a:endParaRPr lang="en-US" sz="1800" dirty="0"/>
          </a:p>
        </p:txBody>
      </p:sp>
      <p:sp>
        <p:nvSpPr>
          <p:cNvPr id="13" name="Text 2"/>
          <p:cNvSpPr/>
          <p:nvPr/>
        </p:nvSpPr>
        <p:spPr>
          <a:xfrm>
            <a:off x="4150608" y="1666875"/>
            <a:ext cx="660296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מורכבות טכנית ופיצול בשילוב טכנולוגיות דיבור ברובוטים.</a:t>
            </a:r>
            <a:endParaRPr lang="en-US" sz="1800" dirty="0"/>
          </a:p>
        </p:txBody>
      </p:sp>
      <p:sp>
        <p:nvSpPr>
          <p:cNvPr id="14" name="Text 3"/>
          <p:cNvSpPr/>
          <p:nvPr/>
        </p:nvSpPr>
        <p:spPr>
          <a:xfrm>
            <a:off x="418951" y="2343150"/>
            <a:ext cx="11049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אתגרים:</a:t>
            </a:r>
            <a:endParaRPr lang="en-US" sz="1800" dirty="0"/>
          </a:p>
        </p:txBody>
      </p:sp>
      <p:sp>
        <p:nvSpPr>
          <p:cNvPr id="15" name="Text 4"/>
          <p:cNvSpPr/>
          <p:nvPr/>
        </p:nvSpPr>
        <p:spPr>
          <a:xfrm>
            <a:off x="3844647" y="2800350"/>
            <a:ext cx="609290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מורכבות: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דרישה לידע מעמיק ב-API ועיבוד אותות.</a:t>
            </a:r>
            <a:endParaRPr lang="en-US" sz="1800" dirty="0"/>
          </a:p>
        </p:txBody>
      </p:sp>
      <p:sp>
        <p:nvSpPr>
          <p:cNvPr id="16" name="Text 5"/>
          <p:cNvSpPr/>
          <p:nvPr/>
        </p:nvSpPr>
        <p:spPr>
          <a:xfrm>
            <a:off x="129302" y="3333750"/>
            <a:ext cx="88334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חווית שיחה קטועה: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אין פתרון מובנה לדו-שיח רציף (Conversation Mode).</a:t>
            </a:r>
            <a:endParaRPr lang="en-US" sz="1800" dirty="0"/>
          </a:p>
        </p:txBody>
      </p:sp>
      <p:sp>
        <p:nvSpPr>
          <p:cNvPr id="17" name="Text 6"/>
          <p:cNvSpPr/>
          <p:nvPr/>
        </p:nvSpPr>
        <p:spPr>
          <a:xfrm>
            <a:off x="1248073" y="4124325"/>
            <a:ext cx="950550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 המוצע:</a:t>
            </a:r>
            <a:endParaRPr lang="en-US" sz="1800" dirty="0"/>
          </a:p>
        </p:txBody>
      </p:sp>
      <p:sp>
        <p:nvSpPr>
          <p:cNvPr id="18" name="Text 7"/>
          <p:cNvSpPr/>
          <p:nvPr/>
        </p:nvSpPr>
        <p:spPr>
          <a:xfrm>
            <a:off x="-653028" y="4505325"/>
            <a:ext cx="1140660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Wrapper אחידה המסתירה את המורכבות ומאפשרת למפתחים להתמקד בלוגיקה העסקית.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3244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476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5700" y="1162050"/>
            <a:ext cx="304800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9500" y="2190750"/>
            <a:ext cx="3810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5800" y="2705100"/>
            <a:ext cx="3314700" cy="2000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0" y="2562225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9013" y="2661345"/>
            <a:ext cx="180975" cy="18276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8650" y="2705100"/>
            <a:ext cx="3314700" cy="2000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1850" y="2562225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7575" y="2661345"/>
            <a:ext cx="209550" cy="18276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05100"/>
            <a:ext cx="3314700" cy="2000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4700" y="2562225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14713" y="2661345"/>
            <a:ext cx="180975" cy="18276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4181475"/>
            <a:ext cx="12192000" cy="11430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61801" y="381000"/>
            <a:ext cx="11049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פערי ידע ותוכנית השלמה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123676" y="1143000"/>
            <a:ext cx="11049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הפער הטכנולוגי</a:t>
            </a:r>
            <a:endParaRPr lang="en-US" sz="2250" dirty="0"/>
          </a:p>
        </p:txBody>
      </p:sp>
      <p:sp>
        <p:nvSpPr>
          <p:cNvPr id="18" name="Text 2"/>
          <p:cNvSpPr/>
          <p:nvPr/>
        </p:nvSpPr>
        <p:spPr>
          <a:xfrm>
            <a:off x="-1699409" y="1628775"/>
            <a:ext cx="127101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העדר כלי המאפשר החלפה דינמית של ספקי שירות וזיהוי שתיקה בדפדפן.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47476" y="2171700"/>
            <a:ext cx="11049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למידה</a:t>
            </a:r>
            <a:endParaRPr lang="en-US" sz="2250" dirty="0"/>
          </a:p>
        </p:txBody>
      </p:sp>
      <p:sp>
        <p:nvSpPr>
          <p:cNvPr id="20" name="Text 4"/>
          <p:cNvSpPr/>
          <p:nvPr/>
        </p:nvSpPr>
        <p:spPr>
          <a:xfrm>
            <a:off x="7654528" y="2962275"/>
            <a:ext cx="3028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7604760" y="3343275"/>
            <a:ext cx="3634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התמחות ב-ASP.NET Core 8.0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7604760" y="3686175"/>
            <a:ext cx="3634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שכבות</a:t>
            </a:r>
            <a:endParaRPr lang="en-US" sz="1350" dirty="0"/>
          </a:p>
        </p:txBody>
      </p:sp>
      <p:sp>
        <p:nvSpPr>
          <p:cNvPr id="23" name="Text 7"/>
          <p:cNvSpPr/>
          <p:nvPr/>
        </p:nvSpPr>
        <p:spPr>
          <a:xfrm>
            <a:off x="3756124" y="2962275"/>
            <a:ext cx="3028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3547110" y="3343275"/>
            <a:ext cx="3634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לימוד Web Audio API</a:t>
            </a:r>
            <a:endParaRPr lang="en-US" sz="1350" dirty="0"/>
          </a:p>
        </p:txBody>
      </p:sp>
      <p:sp>
        <p:nvSpPr>
          <p:cNvPr id="25" name="Text 9"/>
          <p:cNvSpPr/>
          <p:nvPr/>
        </p:nvSpPr>
        <p:spPr>
          <a:xfrm>
            <a:off x="3547110" y="3686175"/>
            <a:ext cx="3634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לימוד MediaRecorder API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523875" y="2962275"/>
            <a:ext cx="3028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500" dirty="0"/>
          </a:p>
        </p:txBody>
      </p:sp>
      <p:sp>
        <p:nvSpPr>
          <p:cNvPr id="27" name="Text 11"/>
          <p:cNvSpPr/>
          <p:nvPr/>
        </p:nvSpPr>
        <p:spPr>
          <a:xfrm>
            <a:off x="-81915" y="3343275"/>
            <a:ext cx="3634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לימוד ה-API של OpenAI:</a:t>
            </a:r>
            <a:endParaRPr lang="en-US" sz="1350" dirty="0"/>
          </a:p>
        </p:txBody>
      </p:sp>
      <p:sp>
        <p:nvSpPr>
          <p:cNvPr id="28" name="Text 12"/>
          <p:cNvSpPr/>
          <p:nvPr/>
        </p:nvSpPr>
        <p:spPr>
          <a:xfrm>
            <a:off x="523875" y="3686175"/>
            <a:ext cx="3028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(STT)</a:t>
            </a:r>
            <a:endParaRPr lang="en-US" sz="1350" dirty="0"/>
          </a:p>
        </p:txBody>
      </p:sp>
      <p:sp>
        <p:nvSpPr>
          <p:cNvPr id="29" name="Text 13"/>
          <p:cNvSpPr/>
          <p:nvPr/>
        </p:nvSpPr>
        <p:spPr>
          <a:xfrm>
            <a:off x="523875" y="3990975"/>
            <a:ext cx="3028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GPT-3.5</a:t>
            </a:r>
            <a:endParaRPr lang="en-US" sz="1350" dirty="0"/>
          </a:p>
        </p:txBody>
      </p:sp>
      <p:sp>
        <p:nvSpPr>
          <p:cNvPr id="30" name="Text 14"/>
          <p:cNvSpPr/>
          <p:nvPr/>
        </p:nvSpPr>
        <p:spPr>
          <a:xfrm>
            <a:off x="523875" y="4295775"/>
            <a:ext cx="3028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44470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5750"/>
            <a:ext cx="11049000" cy="476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952500"/>
            <a:ext cx="3314700" cy="232037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8675" y="1095375"/>
            <a:ext cx="302895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87125" y="1987004"/>
            <a:ext cx="190500" cy="18276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87125" y="2520404"/>
            <a:ext cx="190500" cy="18276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87125" y="2825204"/>
            <a:ext cx="190500" cy="18276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8650" y="952500"/>
            <a:ext cx="3314700" cy="239657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81525" y="1095375"/>
            <a:ext cx="302895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9975" y="1987004"/>
            <a:ext cx="190500" cy="18276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9975" y="2291804"/>
            <a:ext cx="190500" cy="18276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19975" y="2596604"/>
            <a:ext cx="190500" cy="18276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9975" y="2901404"/>
            <a:ext cx="190500" cy="18276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952500"/>
            <a:ext cx="3314700" cy="209177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4375" y="1095375"/>
            <a:ext cx="302895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52825" y="1987004"/>
            <a:ext cx="190500" cy="18276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52825" y="2291804"/>
            <a:ext cx="190500" cy="18276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52825" y="2596604"/>
            <a:ext cx="190500" cy="18276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86200" y="4762500"/>
            <a:ext cx="4419600" cy="285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5238750"/>
            <a:ext cx="11049000" cy="920204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134725" y="5508278"/>
            <a:ext cx="342900" cy="3810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42751" y="285750"/>
            <a:ext cx="11049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המערכת המוצעת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8448675" y="1571625"/>
            <a:ext cx="3028950" cy="320129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ctr" rtl="1">
              <a:lnSpc>
                <a:spcPts val="2520"/>
              </a:lnSpc>
              <a:buNone/>
            </a:pPr>
            <a:r>
              <a:rPr lang="en-US" sz="168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צד לקוח</a:t>
            </a:r>
            <a:endParaRPr lang="en-US" sz="1680" dirty="0"/>
          </a:p>
        </p:txBody>
      </p:sp>
      <p:sp>
        <p:nvSpPr>
          <p:cNvPr id="25" name="Text 2"/>
          <p:cNvSpPr/>
          <p:nvPr/>
        </p:nvSpPr>
        <p:spPr>
          <a:xfrm>
            <a:off x="8187899" y="2002110"/>
            <a:ext cx="2743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HTML/JS עם תמיכה ב-Conversation Mode</a:t>
            </a:r>
            <a:endParaRPr lang="en-US" sz="1200" dirty="0"/>
          </a:p>
        </p:txBody>
      </p:sp>
      <p:sp>
        <p:nvSpPr>
          <p:cNvPr id="26" name="Text 3"/>
          <p:cNvSpPr/>
          <p:nvPr/>
        </p:nvSpPr>
        <p:spPr>
          <a:xfrm>
            <a:off x="9366439" y="2520404"/>
            <a:ext cx="1564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להקלטת קול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9382482" y="2825204"/>
            <a:ext cx="15509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חווית שיחה רציפה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4581525" y="1571625"/>
            <a:ext cx="3028950" cy="320129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ctr" rtl="1">
              <a:lnSpc>
                <a:spcPts val="2520"/>
              </a:lnSpc>
              <a:buNone/>
            </a:pPr>
            <a:r>
              <a:rPr lang="en-US" sz="168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צד שרת</a:t>
            </a:r>
            <a:endParaRPr lang="en-US" sz="1680" dirty="0"/>
          </a:p>
        </p:txBody>
      </p:sp>
      <p:sp>
        <p:nvSpPr>
          <p:cNvPr id="29" name="Text 6"/>
          <p:cNvSpPr/>
          <p:nvPr/>
        </p:nvSpPr>
        <p:spPr>
          <a:xfrm>
            <a:off x="5921425" y="1987004"/>
            <a:ext cx="12028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5592634" y="2291804"/>
            <a:ext cx="14846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בקרים לניהול שיחה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5125909" y="2596604"/>
            <a:ext cx="1884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בקרים לניהול משתמשים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6217920" y="2901404"/>
            <a:ext cx="9486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714375" y="1571625"/>
            <a:ext cx="3028950" cy="320129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ctr" rtl="1">
              <a:lnSpc>
                <a:spcPts val="2520"/>
              </a:lnSpc>
              <a:buNone/>
            </a:pPr>
            <a:r>
              <a:rPr lang="en-US" sz="168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 AI</a:t>
            </a:r>
            <a:endParaRPr lang="en-US" sz="1680" dirty="0"/>
          </a:p>
        </p:txBody>
      </p:sp>
      <p:sp>
        <p:nvSpPr>
          <p:cNvPr id="34" name="Text 11"/>
          <p:cNvSpPr/>
          <p:nvPr/>
        </p:nvSpPr>
        <p:spPr>
          <a:xfrm>
            <a:off x="1066234" y="1987004"/>
            <a:ext cx="2049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- המרת טקסט לדיבור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1066234" y="2291804"/>
            <a:ext cx="2049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- המרת דיבור לטקסט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1904673" y="2596604"/>
            <a:ext cx="13310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מודלים גנרטיביים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5300067" y="5381625"/>
            <a:ext cx="5548759" cy="320129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520"/>
              </a:lnSpc>
              <a:buNone/>
            </a:pPr>
            <a:r>
              <a:rPr lang="en-US" sz="168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המודולריות</a:t>
            </a:r>
            <a:endParaRPr lang="en-US" sz="1680" dirty="0"/>
          </a:p>
        </p:txBody>
      </p:sp>
      <p:sp>
        <p:nvSpPr>
          <p:cNvPr id="38" name="Text 15"/>
          <p:cNvSpPr/>
          <p:nvPr/>
        </p:nvSpPr>
        <p:spPr>
          <a:xfrm>
            <a:off x="4190315" y="5749379"/>
            <a:ext cx="66585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ב-Interfaces כדי לאפשר החלפת ספקי AI בעתיד ללא שינוי קוד.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705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476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62050"/>
            <a:ext cx="1104900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4275" y="3733800"/>
            <a:ext cx="1714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15700" y="417195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15700" y="461010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1413" y="5048250"/>
            <a:ext cx="257175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87125" y="5486400"/>
            <a:ext cx="28575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15700" y="5924550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5276850"/>
            <a:ext cx="12192000" cy="142875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42751" y="381000"/>
            <a:ext cx="11049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עבודה וציר זמן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9163258" y="3762375"/>
            <a:ext cx="1799868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1: אפיון ותכנון</a:t>
            </a:r>
            <a:endParaRPr lang="en-US" sz="1500" dirty="0"/>
          </a:p>
        </p:txBody>
      </p:sp>
      <p:sp>
        <p:nvSpPr>
          <p:cNvPr id="14" name="Text 2"/>
          <p:cNvSpPr/>
          <p:nvPr/>
        </p:nvSpPr>
        <p:spPr>
          <a:xfrm>
            <a:off x="6589633" y="3771900"/>
            <a:ext cx="269783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הגדרת דרישות ו-ERD (חודש 1)</a:t>
            </a:r>
            <a:endParaRPr lang="en-US" sz="1350" dirty="0"/>
          </a:p>
        </p:txBody>
      </p:sp>
      <p:sp>
        <p:nvSpPr>
          <p:cNvPr id="15" name="Text 3"/>
          <p:cNvSpPr/>
          <p:nvPr/>
        </p:nvSpPr>
        <p:spPr>
          <a:xfrm>
            <a:off x="8848219" y="4200525"/>
            <a:ext cx="211490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2: פיתוח צד שרת</a:t>
            </a:r>
            <a:endParaRPr lang="en-US" sz="1500" dirty="0"/>
          </a:p>
        </p:txBody>
      </p:sp>
      <p:sp>
        <p:nvSpPr>
          <p:cNvPr id="16" name="Text 4"/>
          <p:cNvSpPr/>
          <p:nvPr/>
        </p:nvSpPr>
        <p:spPr>
          <a:xfrm>
            <a:off x="5313045" y="4210050"/>
            <a:ext cx="371189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הקמת תשתית API ב-ASP.NET (חודש 2-3)</a:t>
            </a:r>
            <a:endParaRPr lang="en-US" sz="1350" dirty="0"/>
          </a:p>
        </p:txBody>
      </p:sp>
      <p:sp>
        <p:nvSpPr>
          <p:cNvPr id="17" name="Text 5"/>
          <p:cNvSpPr/>
          <p:nvPr/>
        </p:nvSpPr>
        <p:spPr>
          <a:xfrm>
            <a:off x="8934658" y="4638675"/>
            <a:ext cx="2028468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3: אינטגרציה AI</a:t>
            </a:r>
            <a:endParaRPr lang="en-US" sz="1500" dirty="0"/>
          </a:p>
        </p:txBody>
      </p:sp>
      <p:sp>
        <p:nvSpPr>
          <p:cNvPr id="18" name="Text 6"/>
          <p:cNvSpPr/>
          <p:nvPr/>
        </p:nvSpPr>
        <p:spPr>
          <a:xfrm>
            <a:off x="5575637" y="4648200"/>
            <a:ext cx="352133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חיבור ל-OpenAI GPT/Whisper (חודש 3)</a:t>
            </a:r>
            <a:endParaRPr lang="en-US" sz="1350" dirty="0"/>
          </a:p>
        </p:txBody>
      </p:sp>
      <p:sp>
        <p:nvSpPr>
          <p:cNvPr id="19" name="Text 7"/>
          <p:cNvSpPr/>
          <p:nvPr/>
        </p:nvSpPr>
        <p:spPr>
          <a:xfrm>
            <a:off x="8791069" y="5076825"/>
            <a:ext cx="217205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4: פיתוח צד לקוח</a:t>
            </a:r>
            <a:endParaRPr lang="en-US" sz="1500" dirty="0"/>
          </a:p>
        </p:txBody>
      </p:sp>
      <p:sp>
        <p:nvSpPr>
          <p:cNvPr id="20" name="Text 8"/>
          <p:cNvSpPr/>
          <p:nvPr/>
        </p:nvSpPr>
        <p:spPr>
          <a:xfrm>
            <a:off x="5468124" y="5086350"/>
            <a:ext cx="350918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משתמש והקלטת קול (חודש 4-5)</a:t>
            </a:r>
            <a:endParaRPr lang="en-US" sz="1350" dirty="0"/>
          </a:p>
        </p:txBody>
      </p:sp>
      <p:sp>
        <p:nvSpPr>
          <p:cNvPr id="21" name="Text 9"/>
          <p:cNvSpPr/>
          <p:nvPr/>
        </p:nvSpPr>
        <p:spPr>
          <a:xfrm>
            <a:off x="8503176" y="5514975"/>
            <a:ext cx="24599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5: פיצ'רים מתקדמים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3614767" y="5524500"/>
            <a:ext cx="37502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Mode וזיהוי שתיקה (חודש 6)</a:t>
            </a:r>
            <a:endParaRPr lang="en-US" sz="1350" dirty="0"/>
          </a:p>
        </p:txBody>
      </p:sp>
      <p:sp>
        <p:nvSpPr>
          <p:cNvPr id="23" name="Text 11"/>
          <p:cNvSpPr/>
          <p:nvPr/>
        </p:nvSpPr>
        <p:spPr>
          <a:xfrm>
            <a:off x="8854648" y="5953125"/>
            <a:ext cx="2108478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6: בדיקות וסגירה</a:t>
            </a:r>
            <a:endParaRPr lang="en-US" sz="1500" dirty="0"/>
          </a:p>
        </p:txBody>
      </p:sp>
      <p:sp>
        <p:nvSpPr>
          <p:cNvPr id="24" name="Text 12"/>
          <p:cNvSpPr/>
          <p:nvPr/>
        </p:nvSpPr>
        <p:spPr>
          <a:xfrm>
            <a:off x="5224076" y="5962650"/>
            <a:ext cx="380636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תיקון באגים וכתיבת ספר פרויקט (חודש 7-8)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4293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476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43000"/>
            <a:ext cx="11049000" cy="11239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6125" y="1495425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505075"/>
            <a:ext cx="11049000" cy="11239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0" y="2857500"/>
            <a:ext cx="28575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867150"/>
            <a:ext cx="11049000" cy="11239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06125" y="4219575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1112" y="5600700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219575"/>
            <a:ext cx="3860902" cy="2019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5000625"/>
            <a:ext cx="12192000" cy="142875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52276" y="381000"/>
            <a:ext cx="11049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והשפעה צפויה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685651" y="1381125"/>
            <a:ext cx="97631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דמוקרטיזציה של טכנולוגיות דיבור</a:t>
            </a:r>
            <a:endParaRPr lang="en-US" sz="1800" dirty="0"/>
          </a:p>
        </p:txBody>
      </p:sp>
      <p:sp>
        <p:nvSpPr>
          <p:cNvPr id="15" name="Text 2"/>
          <p:cNvSpPr/>
          <p:nvPr/>
        </p:nvSpPr>
        <p:spPr>
          <a:xfrm>
            <a:off x="-1266974" y="1762125"/>
            <a:ext cx="11715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תאפשר הנגשת טכנולוגיות דיבור למפתחים ללא צורך בידע מעמיק בעיבוד אותות או API מורכבים.</a:t>
            </a:r>
            <a:endParaRPr lang="en-US" sz="1500" dirty="0"/>
          </a:p>
        </p:txBody>
      </p:sp>
      <p:sp>
        <p:nvSpPr>
          <p:cNvPr id="16" name="Text 3"/>
          <p:cNvSpPr/>
          <p:nvPr/>
        </p:nvSpPr>
        <p:spPr>
          <a:xfrm>
            <a:off x="-1295549" y="2743200"/>
            <a:ext cx="117157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 מממשק גרפי (GUI) לממשק קולי טבעי (VUI)</a:t>
            </a:r>
            <a:endParaRPr lang="en-US" sz="1800" dirty="0"/>
          </a:p>
        </p:txBody>
      </p:sp>
      <p:sp>
        <p:nvSpPr>
          <p:cNvPr id="17" name="Text 4"/>
          <p:cNvSpPr/>
          <p:nvPr/>
        </p:nvSpPr>
        <p:spPr>
          <a:xfrm>
            <a:off x="-1181249" y="3124200"/>
            <a:ext cx="11715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יצירת חוויית משתמש טבעית ואינטואיטיבית באמצעות שיחה, המתאימה לאוכלוסיות מגוונות כולל קשישים ובעלי מוגבלויות.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657076" y="4105275"/>
            <a:ext cx="97631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תשתית גמישה לפיתוחים עתידיים</a:t>
            </a:r>
            <a:endParaRPr lang="en-US" sz="1800" dirty="0"/>
          </a:p>
        </p:txBody>
      </p:sp>
      <p:sp>
        <p:nvSpPr>
          <p:cNvPr id="19" name="Text 6"/>
          <p:cNvSpPr/>
          <p:nvPr/>
        </p:nvSpPr>
        <p:spPr>
          <a:xfrm>
            <a:off x="-1266974" y="4486275"/>
            <a:ext cx="11715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המודולריות מאפשר החלפת ספקי AI בעתיד ללא שינוי קוד, והתאמה לצרכים משתנים.</a:t>
            </a:r>
            <a:endParaRPr lang="en-US" sz="1500" dirty="0"/>
          </a:p>
        </p:txBody>
      </p:sp>
      <p:sp>
        <p:nvSpPr>
          <p:cNvPr id="20" name="Text 7"/>
          <p:cNvSpPr/>
          <p:nvPr/>
        </p:nvSpPr>
        <p:spPr>
          <a:xfrm>
            <a:off x="944614" y="5429250"/>
            <a:ext cx="132588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1" anchor="t"/>
          <a:lstStyle/>
          <a:p>
            <a:pPr marL="0" indent="0" algn="ctr" rtl="1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מעטפת אחידה להאצת פיתוח רובוטים חכמים עם יכולות שיחה טבעית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490</Words>
  <Application>Microsoft Macintosh PowerPoint</Application>
  <PresentationFormat>Widescreen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Assistant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נבו יפלח</cp:lastModifiedBy>
  <cp:revision>2</cp:revision>
  <dcterms:created xsi:type="dcterms:W3CDTF">2025-12-01T07:51:58Z</dcterms:created>
  <dcterms:modified xsi:type="dcterms:W3CDTF">2025-12-01T07:55:24Z</dcterms:modified>
</cp:coreProperties>
</file>