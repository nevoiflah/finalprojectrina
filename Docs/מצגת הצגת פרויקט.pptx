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2046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516" y="688925"/>
            <a:ext cx="4287116" cy="2667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and STT Wrapper for Robots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789295" y="1184225"/>
            <a:ext cx="1565410" cy="1905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500"/>
              </a:lnSpc>
              <a:spcAft>
                <a:spcPts val="1800"/>
              </a:spcAft>
              <a:buNone/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by GenAI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000500" y="1946225"/>
            <a:ext cx="1143000" cy="28575"/>
          </a:xfrm>
          <a:prstGeom prst="rect">
            <a:avLst/>
          </a:prstGeom>
          <a:solidFill>
            <a:srgbClr val="E6950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832317" y="2317700"/>
            <a:ext cx="3479515" cy="251371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98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מעטפת טקסט-לדיבור ודיבור-לטקסט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508519" y="2797671"/>
            <a:ext cx="4126962" cy="213271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לרובוטים וירטואליים ופיזיים משופרים בבינה מלאכותית גנרטיבית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88911" y="3544342"/>
            <a:ext cx="1966326" cy="18663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גמר בפיתוח מערכות תוכנה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88911" y="3769072"/>
            <a:ext cx="1966326" cy="18663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המכללה האקדמית רופין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88911" y="4070003"/>
            <a:ext cx="1966326" cy="173236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מנחה: ד״ר רינה צביאל-גירשין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588837" y="4454575"/>
            <a:ext cx="1966326" cy="173236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שנת לימודים: </a:t>
            </a:r>
            <a:r>
              <a:rPr lang="en-US" sz="975" dirty="0" err="1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תשפ״ו</a:t>
            </a:r>
            <a:r>
              <a:rPr lang="he-IL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(2025- 2026)</a:t>
            </a:r>
            <a:endParaRPr lang="en-US" sz="975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CF8EAFE-EE3E-8BDE-07B8-FED2F1A1B2FD}"/>
              </a:ext>
            </a:extLst>
          </p:cNvPr>
          <p:cNvSpPr/>
          <p:nvPr/>
        </p:nvSpPr>
        <p:spPr>
          <a:xfrm>
            <a:off x="3486684" y="4262289"/>
            <a:ext cx="2111605" cy="18663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365"/>
              </a:lnSpc>
              <a:spcAft>
                <a:spcPts val="300"/>
              </a:spcAft>
              <a:buNone/>
            </a:pPr>
            <a:r>
              <a:rPr lang="he-IL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מגישים: נבו יפלח, ליאל ירדני, אדיר בן דיין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62475" y="22860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 והצגת הנושא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0" y="857250"/>
            <a:ext cx="9144000" cy="38100"/>
          </a:xfrm>
          <a:prstGeom prst="rect">
            <a:avLst/>
          </a:prstGeom>
          <a:solidFill>
            <a:srgbClr val="E6950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276350"/>
            <a:ext cx="8534400" cy="1034355"/>
          </a:xfrm>
          <a:prstGeom prst="roundRect">
            <a:avLst>
              <a:gd name="adj" fmla="val 7367"/>
            </a:avLst>
          </a:prstGeom>
          <a:solidFill>
            <a:srgbClr val="F0F7F7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815388" y="1276350"/>
            <a:ext cx="0" cy="1034355"/>
          </a:xfrm>
          <a:prstGeom prst="line">
            <a:avLst/>
          </a:prstGeom>
          <a:noFill/>
          <a:ln w="47625">
            <a:solidFill>
              <a:srgbClr val="00808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495300" y="1466850"/>
            <a:ext cx="8267891" cy="1619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הפרויקט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95300" y="1724025"/>
            <a:ext cx="8267891" cy="3961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מערכת Wrapper חדשנית לשילוב פונקציות טקסט-לדיבור (TTS) ודיבור-לטקסט (STT) ברובוטים וירטואליים ופיזיים, המונעים על ידי בינה מלאכותית גנרטיבית.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667250" y="2764185"/>
            <a:ext cx="4171950" cy="1150441"/>
          </a:xfrm>
          <a:prstGeom prst="roundRect">
            <a:avLst>
              <a:gd name="adj" fmla="val 662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8700" y="2935635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E6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37462" y="3202335"/>
            <a:ext cx="3905631" cy="388441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53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ממשק גמיש ונגיש המאפשר תקשורת טבעית ואינטואיטיבית בין בני אדם לרובוטים, ללא צורך בהבנה מעמיקה של הטכנולוגיות הבסיסיות.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800" y="2520255"/>
            <a:ext cx="4171950" cy="16383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" y="2691705"/>
            <a:ext cx="3905631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E6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טכנולוגיות מרכזיות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6250" y="3110805"/>
            <a:ext cx="3829050" cy="8763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 </a:t>
            </a:r>
            <a:r>
              <a:rPr lang="he-IL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עיבוד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שפה טבעית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</a:t>
            </a:r>
            <a:r>
              <a:rPr lang="he-IL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דיבור</a:t>
            </a:r>
            <a:r>
              <a:rPr lang="he-IL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(STT)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TTS </a:t>
            </a:r>
            <a:r>
              <a:rPr lang="he-IL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הפקת</a:t>
            </a: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דיבור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91325" y="4368254"/>
            <a:ext cx="2047875" cy="546646"/>
          </a:xfrm>
          <a:prstGeom prst="roundRect">
            <a:avLst>
              <a:gd name="adj" fmla="val 10455"/>
            </a:avLst>
          </a:prstGeom>
          <a:solidFill>
            <a:srgbClr val="E8F0F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87432" y="4482554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דפדפן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887432" y="4667250"/>
            <a:ext cx="1855661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אינטראקטיבי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29150" y="4368254"/>
            <a:ext cx="2047875" cy="546646"/>
          </a:xfrm>
          <a:prstGeom prst="roundRect">
            <a:avLst>
              <a:gd name="adj" fmla="val 10455"/>
            </a:avLst>
          </a:prstGeom>
          <a:solidFill>
            <a:srgbClr val="E8F0F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25257" y="4482554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שיחה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725257" y="4667250"/>
            <a:ext cx="1855661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דו-שיח רציף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466975" y="4368254"/>
            <a:ext cx="2047875" cy="546646"/>
          </a:xfrm>
          <a:prstGeom prst="roundRect">
            <a:avLst>
              <a:gd name="adj" fmla="val 10455"/>
            </a:avLst>
          </a:prstGeom>
          <a:solidFill>
            <a:srgbClr val="E8F0F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63082" y="4482554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משתמשים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563082" y="4667250"/>
            <a:ext cx="1855661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אימות מלא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04800" y="4368254"/>
            <a:ext cx="2047875" cy="546646"/>
          </a:xfrm>
          <a:prstGeom prst="roundRect">
            <a:avLst>
              <a:gd name="adj" fmla="val 10455"/>
            </a:avLst>
          </a:prstGeom>
          <a:solidFill>
            <a:srgbClr val="E8F0F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0907" y="4482554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פאנל ניהול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00907" y="4667250"/>
            <a:ext cx="1855661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למנהלים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76941" y="22860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הבעיה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0" y="857250"/>
            <a:ext cx="9144000" cy="38100"/>
          </a:xfrm>
          <a:prstGeom prst="rect">
            <a:avLst/>
          </a:prstGeom>
          <a:solidFill>
            <a:srgbClr val="E6950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5" name="Image 0" descr="/tmp/rasterized-gradient-88c0f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38250"/>
            <a:ext cx="8534400" cy="7191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3184" y="1390650"/>
            <a:ext cx="8267891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 המרכזית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33184" y="1619250"/>
            <a:ext cx="8267891" cy="185738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463"/>
              </a:lnSpc>
              <a:buNone/>
            </a:pPr>
            <a:r>
              <a:rPr lang="en-US" sz="9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המורכבות הטכנית והפיצול שקיימים כיום בשילוב טכנולוגיות דיבור ברובוטים מגבילים את היכולת ליצור אינטראקציה טבעית עם משתמשים.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34112" y="2147888"/>
            <a:ext cx="870508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האתגרים העיקריים: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4800" y="2465040"/>
            <a:ext cx="2033588" cy="1719263"/>
          </a:xfrm>
          <a:prstGeom prst="roundRect">
            <a:avLst>
              <a:gd name="adj" fmla="val 4432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" y="261744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75667" y="2655540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2624" y="3207990"/>
            <a:ext cx="1763363" cy="14287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מורכבות טכנית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422624" y="3560415"/>
            <a:ext cx="1763363" cy="471488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שילוב TTS ו-STT דורש ידע מעמיק בממשקי API, פרוטוקולי תקשורת ועיבוד אותות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2471738" y="2543621"/>
            <a:ext cx="2033588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624138" y="269602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742605" y="273412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589562" y="3286571"/>
            <a:ext cx="1763363" cy="14287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העדר אחידות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2589562" y="3638996"/>
            <a:ext cx="1763363" cy="3143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ספקים שונים (OpenAI, Google, IBM) עם ממשקים ופורמטים שונים לחלוטין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638675" y="2543621"/>
            <a:ext cx="2033588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791075" y="269602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909542" y="273412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756499" y="3286571"/>
            <a:ext cx="1763363" cy="14287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קושי באינטגרציה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4756499" y="3638996"/>
            <a:ext cx="1763363" cy="3143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רובוטים פיזיים ווירטואליים דורשים גישות שונות לשילוב טכנולוגיות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6805613" y="2543621"/>
            <a:ext cx="2033588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958013" y="2696021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7076480" y="273412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923437" y="3286571"/>
            <a:ext cx="1763363" cy="14287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חווית משתמש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6923437" y="3638996"/>
            <a:ext cx="1763363" cy="3143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 הפתרונות אינם מספקים חווית שיחה טבעית ורציפה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04800" y="4349204"/>
            <a:ext cx="8534400" cy="603796"/>
          </a:xfrm>
          <a:prstGeom prst="roundRect">
            <a:avLst>
              <a:gd name="adj" fmla="val 12620"/>
            </a:avLst>
          </a:prstGeom>
          <a:solidFill>
            <a:srgbClr val="F0F7F7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12420" y="4482554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קהל היעד הנפגע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12420" y="4673054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155"/>
              </a:lnSpc>
              <a:buNone/>
            </a:pPr>
            <a:r>
              <a:rPr lang="en-US" sz="8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משתמשים שאינם טכנולוגיים: ילדים, קשישים ובעלי מוגבלויות - הזקוקים לאינטראקציה טבעית באמצעות שפה מדוברת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76941" y="22860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הצורך העסקי והחברתי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0" y="857250"/>
            <a:ext cx="9144000" cy="38100"/>
          </a:xfrm>
          <a:prstGeom prst="rect">
            <a:avLst/>
          </a:prstGeom>
          <a:solidFill>
            <a:srgbClr val="E6950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4112" y="1238250"/>
            <a:ext cx="870508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תחומי יישום מרכזיים: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4800" y="2028825"/>
            <a:ext cx="4200525" cy="8096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7" name="Image 0" descr="/tmp/rasterized-gradient-9fbf3b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1225"/>
            <a:ext cx="419100" cy="4191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7836" y="225742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23354" y="2181225"/>
            <a:ext cx="3429572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חינוך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23354" y="2371725"/>
            <a:ext cx="3429572" cy="3143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מורים וירטואליים המתקשרים עם תלמידים בשפה טבעית ומתאימים את עצמם לצרכים אישיים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04800" y="2952750"/>
            <a:ext cx="4200525" cy="8096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12" name="Image 1" descr="/tmp/rasterized-gradient-652408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05150"/>
            <a:ext cx="419100" cy="4191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836" y="3181350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23354" y="3105150"/>
            <a:ext cx="3429572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בריאות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23354" y="3295650"/>
            <a:ext cx="3429572" cy="3143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עוזרים רובוטיים בבתי חולים ובבתים המספקים מידע ותמיכה רגשית למטופלים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304800" y="3876675"/>
            <a:ext cx="4200525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17" name="Image 2" descr="/tmp/rasterized-gradient-d7f8aa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029075"/>
            <a:ext cx="419100" cy="4191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836" y="410527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🎧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23354" y="4029075"/>
            <a:ext cx="3429572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שירות לקוחות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923354" y="4219575"/>
            <a:ext cx="3429572" cy="157163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סוכנים וירטואליים המספקים שירות 24/7 בשפה טבעית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4638675" y="2071688"/>
            <a:ext cx="4200525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22" name="Image 3" descr="/tmp/rasterized-gradient-c4229d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2224088"/>
            <a:ext cx="419100" cy="4191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881711" y="2300288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♿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257229" y="2224088"/>
            <a:ext cx="3429572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נגישות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257229" y="2414588"/>
            <a:ext cx="3429572" cy="157163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מתן גישה לטכנולוגיה לאנשים עם מוגבלויות שמתקשים בממשקים מסורתיים</a:t>
            </a:r>
            <a:endParaRPr lang="en-US" sz="825" dirty="0"/>
          </a:p>
        </p:txBody>
      </p:sp>
      <p:sp>
        <p:nvSpPr>
          <p:cNvPr id="26" name="Text 20"/>
          <p:cNvSpPr/>
          <p:nvPr/>
        </p:nvSpPr>
        <p:spPr>
          <a:xfrm>
            <a:off x="4638675" y="2909888"/>
            <a:ext cx="4200525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27" name="Image 4" descr="/tmp/rasterized-gradient-a914ba5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075" y="3062288"/>
            <a:ext cx="419100" cy="4191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881711" y="3138488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257229" y="3062288"/>
            <a:ext cx="3429572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בתים חכמים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257229" y="3252788"/>
            <a:ext cx="3429572" cy="157163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שליטה בבית באמצעות שיחה טבעית עם מערכות חכמות</a:t>
            </a:r>
            <a:endParaRPr lang="en-US" sz="825" dirty="0"/>
          </a:p>
        </p:txBody>
      </p:sp>
      <p:pic>
        <p:nvPicPr>
          <p:cNvPr id="31" name="Image 5" descr="/tmp/rasterized-gradient-60fd47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8675" y="3748087"/>
            <a:ext cx="4200525" cy="8096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13923" y="3900488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הערך המוסף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4713923" y="4090987"/>
            <a:ext cx="3934777" cy="3143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238"/>
              </a:lnSpc>
              <a:buNone/>
            </a:pPr>
            <a:r>
              <a:rPr lang="en-US" sz="8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המערכת מאפשרת למפתחים ליצור יישומים עם ממשק קולי מבלי להתמודד עם המורכבות הטכנית של שירותי הדיבור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76941" y="22860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ספרות וטכנולוגיות קיימות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0" y="857250"/>
            <a:ext cx="9144000" cy="38100"/>
          </a:xfrm>
          <a:prstGeom prst="rect">
            <a:avLst/>
          </a:prstGeom>
          <a:solidFill>
            <a:srgbClr val="E6950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4112" y="1238250"/>
            <a:ext cx="870508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השוואת </a:t>
            </a:r>
            <a:r>
              <a:rPr lang="en-US" sz="1050" b="1" dirty="0" err="1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ספקי</a:t>
            </a:r>
            <a:r>
              <a:rPr lang="en-US" sz="105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err="1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טכנולוגיות</a:t>
            </a:r>
            <a:r>
              <a:rPr lang="he-IL" sz="105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</a:t>
            </a:r>
            <a:r>
              <a:rPr lang="he-IL" sz="105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ו- </a:t>
            </a:r>
            <a:r>
              <a:rPr lang="en-US" sz="105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</a:t>
            </a:r>
            <a:r>
              <a:rPr lang="he-IL" sz="105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4800" y="2045940"/>
            <a:ext cx="2033588" cy="16383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7" name="Image 0" descr="/tmp/rasterized-gradient-e49499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045940"/>
            <a:ext cx="2033588" cy="3905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2624" y="2160240"/>
            <a:ext cx="1763363" cy="1619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422624" y="2722215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STT: Whisper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22624" y="2931765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TTS: OpenAI TTS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57200" y="3146078"/>
            <a:ext cx="1728788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9"/>
          <p:cNvSpPr/>
          <p:nvPr/>
        </p:nvSpPr>
        <p:spPr>
          <a:xfrm>
            <a:off x="422624" y="3246090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דיוק גבוה, מודלים גנרטיביים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22624" y="3417540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עלות גבוהה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471738" y="2045940"/>
            <a:ext cx="2033588" cy="16383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15" name="Image 1" descr="/tmp/rasterized-gradient-914266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1738" y="2045940"/>
            <a:ext cx="2033588" cy="39052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89562" y="2160240"/>
            <a:ext cx="1763363" cy="1619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2589562" y="2722215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STT: Speech-to-Text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2589562" y="2931765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TTS: Text-to-Speech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2624138" y="3146078"/>
            <a:ext cx="1728787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6"/>
          <p:cNvSpPr/>
          <p:nvPr/>
        </p:nvSpPr>
        <p:spPr>
          <a:xfrm>
            <a:off x="2589562" y="3246090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אמינות גבוהה, תמיכה בשפות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2589562" y="3417540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תלות בענן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4638675" y="2045940"/>
            <a:ext cx="2033588" cy="16383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23" name="Image 2" descr="/tmp/rasterized-gradient-ad79a8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675" y="2045940"/>
            <a:ext cx="2033588" cy="3905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756499" y="2160240"/>
            <a:ext cx="1763363" cy="1619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AWS</a:t>
            </a:r>
            <a:endParaRPr lang="en-US" sz="1125" dirty="0"/>
          </a:p>
        </p:txBody>
      </p:sp>
      <p:sp>
        <p:nvSpPr>
          <p:cNvPr id="25" name="Text 20"/>
          <p:cNvSpPr/>
          <p:nvPr/>
        </p:nvSpPr>
        <p:spPr>
          <a:xfrm>
            <a:off x="4756499" y="2722215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STT: Transcribe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4756499" y="2931765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TTS: Polly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4791075" y="3146078"/>
            <a:ext cx="1728788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3"/>
          <p:cNvSpPr/>
          <p:nvPr/>
        </p:nvSpPr>
        <p:spPr>
          <a:xfrm>
            <a:off x="4756499" y="3246090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מחיר תחרותי, מגוון שירותים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4756499" y="3417540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אינטגרציה מורכבת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6805613" y="2045940"/>
            <a:ext cx="2033588" cy="16383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31" name="Image 3" descr="/tmp/rasterized-gradient-8fcaa43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5613" y="2045940"/>
            <a:ext cx="2033588" cy="39052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23437" y="2160240"/>
            <a:ext cx="1763363" cy="1619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</a:t>
            </a:r>
            <a:endParaRPr lang="en-US" sz="1125" dirty="0"/>
          </a:p>
        </p:txBody>
      </p:sp>
      <p:sp>
        <p:nvSpPr>
          <p:cNvPr id="33" name="Text 27"/>
          <p:cNvSpPr/>
          <p:nvPr/>
        </p:nvSpPr>
        <p:spPr>
          <a:xfrm>
            <a:off x="6923437" y="2722215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STT: Speech to Text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6923437" y="2931765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TTS: Text to Speech</a:t>
            </a:r>
            <a:endParaRPr lang="en-US" sz="750" dirty="0"/>
          </a:p>
        </p:txBody>
      </p:sp>
      <p:sp>
        <p:nvSpPr>
          <p:cNvPr id="35" name="Shape 29"/>
          <p:cNvSpPr/>
          <p:nvPr/>
        </p:nvSpPr>
        <p:spPr>
          <a:xfrm>
            <a:off x="6958013" y="3146078"/>
            <a:ext cx="1728788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0"/>
          <p:cNvSpPr/>
          <p:nvPr/>
        </p:nvSpPr>
        <p:spPr>
          <a:xfrm>
            <a:off x="6923437" y="3246090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יכולות NLP מתקדמות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6923437" y="3417540"/>
            <a:ext cx="1763363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עלות גבוהה</a:t>
            </a:r>
            <a:endParaRPr lang="en-US" sz="750" dirty="0"/>
          </a:p>
        </p:txBody>
      </p:sp>
      <p:pic>
        <p:nvPicPr>
          <p:cNvPr id="38" name="Image 4" descr="/tmp/rasterized-gradient-4f5cc68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4339679"/>
            <a:ext cx="8534400" cy="613321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313182" y="4473029"/>
            <a:ext cx="8316468" cy="14287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המסקנה: חוסר סטנדרטיזציה</a:t>
            </a:r>
            <a:endParaRPr lang="en-US" sz="975" dirty="0"/>
          </a:p>
        </p:txBody>
      </p:sp>
      <p:sp>
        <p:nvSpPr>
          <p:cNvPr id="40" name="Text 33"/>
          <p:cNvSpPr/>
          <p:nvPr/>
        </p:nvSpPr>
        <p:spPr>
          <a:xfrm>
            <a:off x="313182" y="4673054"/>
            <a:ext cx="8316468" cy="146596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155"/>
              </a:lnSpc>
              <a:buNone/>
            </a:pPr>
            <a:r>
              <a:rPr lang="en-US" sz="82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ספק דורש מימוש שונה לחלוטין (Fragmentation) - קושי בהחלפת ספקים, עקומת למידה תלולה, קוד כפול ומורכבות תחזוקה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76941" y="22860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פתרונות קיימים והצורך בפתרון חדש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0" y="857250"/>
            <a:ext cx="9144000" cy="38100"/>
          </a:xfrm>
          <a:prstGeom prst="rect">
            <a:avLst/>
          </a:prstGeom>
          <a:solidFill>
            <a:srgbClr val="E6950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21742" y="1428750"/>
            <a:ext cx="423595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מגבלות הפתרונות הקיימים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4800" y="1714500"/>
            <a:ext cx="41529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0426" y="182880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חוסר אחידות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0426" y="200025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ספק מספק ממשק API שונה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4800" y="2343150"/>
            <a:ext cx="41529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0426" y="245745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מורכבות טכנית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0426" y="262890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דורש ידע מעמיק בתחום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4800" y="2971800"/>
            <a:ext cx="41529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0426" y="308610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העדר תמיכה רציפה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0426" y="325755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הפעלה מחדש של הקלטה לכל משפט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4800" y="3600450"/>
            <a:ext cx="41529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0426" y="371475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חווית משתמש לא אופטימלית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0426" y="388620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שילוב חלק של כל הרכיבים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4800" y="4229100"/>
            <a:ext cx="41529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0426" y="434340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עלות גבוהה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0426" y="451485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ישיר יקר למפתחים קטנים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03242" y="1280220"/>
            <a:ext cx="423595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0A3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 שלנו</a:t>
            </a:r>
            <a:endParaRPr lang="en-US" sz="1050" dirty="0"/>
          </a:p>
        </p:txBody>
      </p:sp>
      <p:pic>
        <p:nvPicPr>
          <p:cNvPr id="22" name="Image 0" descr="/tmp/rasterized-gradient-d83713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565970"/>
            <a:ext cx="4152900" cy="267057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801362" y="1756470"/>
            <a:ext cx="3847338" cy="1714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 </a:t>
            </a:r>
            <a:r>
              <a:rPr lang="he-IL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אחיד</a:t>
            </a:r>
            <a:r>
              <a:rPr lang="en-US" sz="12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ופשוט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01362" y="2042220"/>
            <a:ext cx="3847338" cy="365522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44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שמסתירה את המורכבות הטכנית ומאפשרת למפתחים להתמקד בלוגיקה העסקית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876800" y="2560141"/>
            <a:ext cx="3771900" cy="14859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API אחיד לכל הספקים</a:t>
            </a:r>
            <a:endParaRPr lang="en-US" sz="135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שיחה רציף (Conversation Mode)</a:t>
            </a:r>
            <a:endParaRPr lang="en-US" sz="135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ממשק משתמש מודרני ונגיש</a:t>
            </a:r>
            <a:endParaRPr lang="en-US" sz="135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אינטגרציה עם מודלים גנרטיביים</a:t>
            </a:r>
            <a:endParaRPr lang="en-US" sz="135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 מודולרית להחלפת ספקים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686300" y="4331791"/>
            <a:ext cx="4152900" cy="579090"/>
          </a:xfrm>
          <a:prstGeom prst="roundRect">
            <a:avLst>
              <a:gd name="adj" fmla="val 13159"/>
            </a:avLst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61738" y="4465141"/>
            <a:ext cx="3925062" cy="1143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הערך העיקרי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61738" y="4617541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מפתחים יכולים ליצור יישומים קוליים בקלות, בלי להתמודד עם פרטים טכניים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76941" y="22860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פערי ידע ותוכנית השלמה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0" y="857250"/>
            <a:ext cx="9144000" cy="38100"/>
          </a:xfrm>
          <a:prstGeom prst="rect">
            <a:avLst/>
          </a:prstGeom>
          <a:solidFill>
            <a:srgbClr val="E6950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5" name="Image 0" descr="/tmp/rasterized-gradient-669641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38250"/>
            <a:ext cx="8534400" cy="6552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3184" y="1390650"/>
            <a:ext cx="8267891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הפער הטכנולוגי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33184" y="1581150"/>
            <a:ext cx="8267891" cy="15999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260"/>
              </a:lnSpc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העדר כלי המאפשר החלפה דינמית של ספקי שירות וזיהוי שתיקה בדפדפן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4112" y="2045940"/>
            <a:ext cx="8705088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05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למידה: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4800" y="2278410"/>
            <a:ext cx="2743200" cy="274692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10" name="Image 1" descr="/tmp/rasterized-gradient-75d1ba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2278410"/>
            <a:ext cx="2743200" cy="4286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8432" y="2411760"/>
            <a:ext cx="2487168" cy="1619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408432" y="3011835"/>
            <a:ext cx="2487168" cy="146596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155"/>
              </a:lnSpc>
              <a:buNone/>
            </a:pPr>
            <a:r>
              <a:rPr lang="he-IL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לימוד ה- </a:t>
            </a: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r>
              <a:rPr lang="he-IL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של </a:t>
            </a: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25" dirty="0"/>
          </a:p>
        </p:txBody>
      </p:sp>
      <p:sp>
        <p:nvSpPr>
          <p:cNvPr id="13" name="Text 9"/>
          <p:cNvSpPr/>
          <p:nvPr/>
        </p:nvSpPr>
        <p:spPr>
          <a:xfrm>
            <a:off x="457200" y="3253680"/>
            <a:ext cx="2438400" cy="47625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27304" y="33489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27304" y="35013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המרת דיבור לטקסט (STT)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457200" y="3825180"/>
            <a:ext cx="2438400" cy="47625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27304" y="39204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GPT-3.5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27304" y="40728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עיבוד שפה טבעית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457200" y="4396680"/>
            <a:ext cx="2438400" cy="476250"/>
          </a:xfrm>
          <a:prstGeom prst="roundRect">
            <a:avLst>
              <a:gd name="adj" fmla="val 12000"/>
            </a:avLst>
          </a:prstGeom>
          <a:solidFill>
            <a:srgbClr val="F5F3FF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27304" y="44919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27304" y="46443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המרת טקסט לדיבור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3200400" y="2278410"/>
            <a:ext cx="2743200" cy="274692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23" name="Image 2" descr="/tmp/rasterized-gradient-639c17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2278410"/>
            <a:ext cx="2743200" cy="42862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304032" y="2411760"/>
            <a:ext cx="2487168" cy="1619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25" dirty="0"/>
          </a:p>
        </p:txBody>
      </p:sp>
      <p:sp>
        <p:nvSpPr>
          <p:cNvPr id="25" name="Text 20"/>
          <p:cNvSpPr/>
          <p:nvPr/>
        </p:nvSpPr>
        <p:spPr>
          <a:xfrm>
            <a:off x="3304032" y="3011835"/>
            <a:ext cx="2487168" cy="146596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טכנולוגיות דפדפן:</a:t>
            </a:r>
            <a:endParaRPr lang="en-US" sz="825" dirty="0"/>
          </a:p>
        </p:txBody>
      </p:sp>
      <p:sp>
        <p:nvSpPr>
          <p:cNvPr id="26" name="Text 21"/>
          <p:cNvSpPr/>
          <p:nvPr/>
        </p:nvSpPr>
        <p:spPr>
          <a:xfrm>
            <a:off x="3352800" y="3253680"/>
            <a:ext cx="2438400" cy="47625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3422904" y="33489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 API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422904" y="35013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ניתוח אודיו וזיהוי שתיקה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3352800" y="3825180"/>
            <a:ext cx="2438400" cy="47625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3422904" y="39204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MediaRecorder API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3422904" y="40728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הקלטת קול בדפדפן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3352800" y="4396680"/>
            <a:ext cx="2438400" cy="47625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3422904" y="44919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3422904" y="46443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תקשורת עם השרת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6096000" y="2278410"/>
            <a:ext cx="2743200" cy="2746921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36" name="Image 3" descr="/tmp/rasterized-gradient-4e3d7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278410"/>
            <a:ext cx="2743200" cy="42862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199632" y="2411760"/>
            <a:ext cx="2487168" cy="16192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25" dirty="0"/>
          </a:p>
        </p:txBody>
      </p:sp>
      <p:sp>
        <p:nvSpPr>
          <p:cNvPr id="38" name="Text 32"/>
          <p:cNvSpPr/>
          <p:nvPr/>
        </p:nvSpPr>
        <p:spPr>
          <a:xfrm>
            <a:off x="6199632" y="3011835"/>
            <a:ext cx="2487168" cy="146596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155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פלטפורמת השרת:</a:t>
            </a:r>
            <a:endParaRPr lang="en-US" sz="825" dirty="0"/>
          </a:p>
        </p:txBody>
      </p:sp>
      <p:sp>
        <p:nvSpPr>
          <p:cNvPr id="39" name="Text 33"/>
          <p:cNvSpPr/>
          <p:nvPr/>
        </p:nvSpPr>
        <p:spPr>
          <a:xfrm>
            <a:off x="6248400" y="3253680"/>
            <a:ext cx="2438400" cy="47625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6318504" y="33489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8.0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6318504" y="35013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פלטפורמת השרת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6248400" y="3825180"/>
            <a:ext cx="2438400" cy="47625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6318504" y="39204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שכבות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6318504" y="40728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Controllers, Services, DAL</a:t>
            </a:r>
            <a:endParaRPr lang="en-US" sz="750" dirty="0"/>
          </a:p>
        </p:txBody>
      </p:sp>
      <p:sp>
        <p:nvSpPr>
          <p:cNvPr id="45" name="Text 39"/>
          <p:cNvSpPr/>
          <p:nvPr/>
        </p:nvSpPr>
        <p:spPr>
          <a:xfrm>
            <a:off x="6248400" y="4396680"/>
            <a:ext cx="2438400" cy="47625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6318504" y="44919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150"/>
              </a:spcAft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6318504" y="4644330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 נתונים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76941" y="22860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המערכת המוצעת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0" y="857250"/>
            <a:ext cx="9144000" cy="38100"/>
          </a:xfrm>
          <a:prstGeom prst="rect">
            <a:avLst/>
          </a:prstGeom>
          <a:solidFill>
            <a:srgbClr val="E6950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631603"/>
            <a:ext cx="2387650" cy="22479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6" name="Image 0" descr="/tmp/rasterized-gradient-9316f4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631603"/>
            <a:ext cx="2387650" cy="552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6372" y="1745903"/>
            <a:ext cx="2124507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צד לקוח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36372" y="1936403"/>
            <a:ext cx="2124507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419100" y="2450753"/>
            <a:ext cx="215905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74979" y="2526953"/>
            <a:ext cx="2007921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 - דף שיחה ראשי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19100" y="2793653"/>
            <a:ext cx="215905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74979" y="2869853"/>
            <a:ext cx="2007921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 - לוגיקה ראשית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19100" y="3136553"/>
            <a:ext cx="215905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74979" y="3212753"/>
            <a:ext cx="2007921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 - תקשורת עם שרת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19100" y="3479453"/>
            <a:ext cx="215905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4979" y="3555653"/>
            <a:ext cx="2007921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script.js - הקלטת קול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937738" y="2447032"/>
            <a:ext cx="195373" cy="3199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2520"/>
              </a:lnSpc>
              <a:buNone/>
            </a:pPr>
            <a:r>
              <a:rPr lang="en-US" sz="1800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931667" y="2957513"/>
            <a:ext cx="207365" cy="106561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3378250" y="1776561"/>
            <a:ext cx="2387650" cy="1957983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7620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pic>
        <p:nvPicPr>
          <p:cNvPr id="20" name="Image 1" descr="/tmp/rasterized-gradient-21a27c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250" y="1776561"/>
            <a:ext cx="2387650" cy="5524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09821" y="1890861"/>
            <a:ext cx="2124507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צד שרת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509821" y="2081361"/>
            <a:ext cx="2124507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3449369" y="2595711"/>
            <a:ext cx="2202231" cy="11995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945"/>
              </a:lnSpc>
              <a:buNone/>
            </a:pPr>
            <a:r>
              <a:rPr lang="en-US" sz="67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Controllers:</a:t>
            </a:r>
            <a:endParaRPr lang="en-US" sz="675" dirty="0"/>
          </a:p>
        </p:txBody>
      </p:sp>
      <p:sp>
        <p:nvSpPr>
          <p:cNvPr id="24" name="Text 20"/>
          <p:cNvSpPr/>
          <p:nvPr/>
        </p:nvSpPr>
        <p:spPr>
          <a:xfrm>
            <a:off x="3449369" y="2753767"/>
            <a:ext cx="2202231" cy="11995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945"/>
              </a:lnSpc>
              <a:buNone/>
            </a:pPr>
            <a:r>
              <a:rPr lang="en-US" sz="675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| STT | TTS | User</a:t>
            </a:r>
            <a:endParaRPr lang="en-US" sz="675" dirty="0"/>
          </a:p>
        </p:txBody>
      </p:sp>
      <p:sp>
        <p:nvSpPr>
          <p:cNvPr id="25" name="Text 21"/>
          <p:cNvSpPr/>
          <p:nvPr/>
        </p:nvSpPr>
        <p:spPr>
          <a:xfrm>
            <a:off x="3449369" y="2968972"/>
            <a:ext cx="2202231" cy="11995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Services:</a:t>
            </a:r>
            <a:endParaRPr lang="en-US" sz="675" dirty="0"/>
          </a:p>
        </p:txBody>
      </p:sp>
      <p:sp>
        <p:nvSpPr>
          <p:cNvPr id="26" name="Text 22"/>
          <p:cNvSpPr/>
          <p:nvPr/>
        </p:nvSpPr>
        <p:spPr>
          <a:xfrm>
            <a:off x="3449369" y="3127028"/>
            <a:ext cx="2202231" cy="11995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ChatService | SpeechService</a:t>
            </a:r>
            <a:endParaRPr lang="en-US" sz="675" dirty="0"/>
          </a:p>
        </p:txBody>
      </p:sp>
      <p:sp>
        <p:nvSpPr>
          <p:cNvPr id="27" name="Text 23"/>
          <p:cNvSpPr/>
          <p:nvPr/>
        </p:nvSpPr>
        <p:spPr>
          <a:xfrm>
            <a:off x="3449369" y="3342233"/>
            <a:ext cx="2202231" cy="11995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Providers:</a:t>
            </a:r>
            <a:endParaRPr lang="en-US" sz="675" dirty="0"/>
          </a:p>
        </p:txBody>
      </p:sp>
      <p:sp>
        <p:nvSpPr>
          <p:cNvPr id="28" name="Text 24"/>
          <p:cNvSpPr/>
          <p:nvPr/>
        </p:nvSpPr>
        <p:spPr>
          <a:xfrm>
            <a:off x="3449369" y="3500289"/>
            <a:ext cx="2202231" cy="11995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945"/>
              </a:lnSpc>
              <a:buNone/>
            </a:pP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OpenAiChat | OpenAiSpeech</a:t>
            </a:r>
            <a:endParaRPr lang="en-US" sz="675" dirty="0"/>
          </a:p>
        </p:txBody>
      </p:sp>
      <p:sp>
        <p:nvSpPr>
          <p:cNvPr id="29" name="Text 25"/>
          <p:cNvSpPr/>
          <p:nvPr/>
        </p:nvSpPr>
        <p:spPr>
          <a:xfrm>
            <a:off x="6011187" y="2595563"/>
            <a:ext cx="195373" cy="31998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lnSpc>
                <a:spcPts val="2520"/>
              </a:lnSpc>
              <a:buNone/>
            </a:pPr>
            <a:r>
              <a:rPr lang="en-US" sz="1800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800" dirty="0"/>
          </a:p>
        </p:txBody>
      </p:sp>
      <p:pic>
        <p:nvPicPr>
          <p:cNvPr id="30" name="Image 2" descr="/tmp/rasterized-gradient-46e381f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699" y="1726853"/>
            <a:ext cx="2387650" cy="135255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542630" y="1860203"/>
            <a:ext cx="2163369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Services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585049" y="2088803"/>
            <a:ext cx="2120950" cy="247650"/>
          </a:xfrm>
          <a:prstGeom prst="roundRect">
            <a:avLst>
              <a:gd name="adj" fmla="val 2307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6641690" y="2145953"/>
            <a:ext cx="1969059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GPT-3.5 - שיחה חכמה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6585049" y="2393603"/>
            <a:ext cx="2120950" cy="247650"/>
          </a:xfrm>
          <a:prstGeom prst="roundRect">
            <a:avLst>
              <a:gd name="adj" fmla="val 2307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6641690" y="2450753"/>
            <a:ext cx="1969059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- דיבור לטקסט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6585049" y="2698403"/>
            <a:ext cx="2120950" cy="247650"/>
          </a:xfrm>
          <a:prstGeom prst="roundRect">
            <a:avLst>
              <a:gd name="adj" fmla="val 23077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6641690" y="2755553"/>
            <a:ext cx="1969059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- טקסט לדיבור</a:t>
            </a:r>
            <a:endParaRPr lang="en-US" sz="750" dirty="0"/>
          </a:p>
        </p:txBody>
      </p:sp>
      <p:pic>
        <p:nvPicPr>
          <p:cNvPr id="38" name="Image 3" descr="/tmp/rasterized-gradient-8e3d38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699" y="3174653"/>
            <a:ext cx="2387650" cy="60960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542630" y="3308003"/>
            <a:ext cx="2163369" cy="1524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6542630" y="3517553"/>
            <a:ext cx="2163369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משתמשים</a:t>
            </a:r>
            <a:endParaRPr lang="en-US" sz="750" dirty="0"/>
          </a:p>
        </p:txBody>
      </p:sp>
      <p:pic>
        <p:nvPicPr>
          <p:cNvPr id="41" name="Image 4" descr="/tmp/rasterized-gradient-99eb5e4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4406354"/>
            <a:ext cx="8534400" cy="54664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293370" y="4520654"/>
            <a:ext cx="8355330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עקרון המודולריות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293370" y="4692104"/>
            <a:ext cx="8355330" cy="146596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155"/>
              </a:lnSpc>
              <a:buNone/>
            </a:pPr>
            <a:r>
              <a:rPr lang="en-US" sz="825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שימוש ב-Interfaces לאפשר החלפת ספקי AI בעתיד ללא שינוי קוד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76941" y="228600"/>
            <a:ext cx="4362260" cy="2476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עבודה וציר זמן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0" y="857250"/>
            <a:ext cx="9144000" cy="38100"/>
          </a:xfrm>
          <a:prstGeom prst="rect">
            <a:avLst/>
          </a:prstGeom>
          <a:solidFill>
            <a:srgbClr val="E6950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4800" y="1238250"/>
            <a:ext cx="8534400" cy="514350"/>
          </a:xfrm>
          <a:prstGeom prst="roundRect">
            <a:avLst>
              <a:gd name="adj" fmla="val 18519"/>
            </a:avLst>
          </a:prstGeom>
          <a:solidFill>
            <a:srgbClr val="F0F7F7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449" y="1352550"/>
            <a:ext cx="295108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397919" y="1352550"/>
            <a:ext cx="381485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 2-3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385072" y="1352550"/>
            <a:ext cx="381485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 4-5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372225" y="1352550"/>
            <a:ext cx="295108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 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274695" y="1352550"/>
            <a:ext cx="381485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 7-8</a:t>
            </a:r>
            <a:endParaRPr lang="en-US" sz="750" dirty="0"/>
          </a:p>
        </p:txBody>
      </p:sp>
      <p:pic>
        <p:nvPicPr>
          <p:cNvPr id="11" name="Image 0" descr="/tmp/rasterized-gradient-b0cebe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562100"/>
            <a:ext cx="8153400" cy="76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04800" y="1930747"/>
            <a:ext cx="1630710" cy="2310705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04800" y="1930747"/>
            <a:ext cx="1630710" cy="323850"/>
          </a:xfrm>
          <a:prstGeom prst="rect">
            <a:avLst/>
          </a:prstGeom>
          <a:solidFill>
            <a:srgbClr val="00808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91058" y="2025997"/>
            <a:ext cx="1430152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he-IL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אפיון</a:t>
            </a: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ותכנון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91058" y="2502247"/>
            <a:ext cx="1430152" cy="11995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945"/>
              </a:lnSpc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 1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419100" y="2698403"/>
            <a:ext cx="1402110" cy="14478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הגדרת דרישות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עיצוב ארכיטקטורה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 מסד נתונים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בחירת טכנולוגיות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030760" y="1664047"/>
            <a:ext cx="1630710" cy="2660301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algn="r" defTabSz="914400" rtl="1" eaLnBrk="1" latinLnBrk="0" hangingPunct="1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30760" y="1664047"/>
            <a:ext cx="1630710" cy="323850"/>
          </a:xfrm>
          <a:prstGeom prst="rect">
            <a:avLst/>
          </a:prstGeom>
          <a:solidFill>
            <a:srgbClr val="00909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117018" y="1759297"/>
            <a:ext cx="1430152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he-IL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en-US" sz="1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</a:t>
            </a: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צד שרת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117018" y="2235547"/>
            <a:ext cx="1430152" cy="11995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945"/>
              </a:lnSpc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 2-3</a:t>
            </a:r>
            <a:endParaRPr lang="en-US" sz="675" dirty="0"/>
          </a:p>
        </p:txBody>
      </p:sp>
      <p:sp>
        <p:nvSpPr>
          <p:cNvPr id="21" name="Text 18"/>
          <p:cNvSpPr/>
          <p:nvPr/>
        </p:nvSpPr>
        <p:spPr>
          <a:xfrm>
            <a:off x="2145060" y="2431703"/>
            <a:ext cx="1402110" cy="1981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הקמת פרויקט ASP.NET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מבנה שכבות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מימוש Providers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אינטגרציה עם OpenAI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756720" y="1664047"/>
            <a:ext cx="1630710" cy="2660301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algn="r" defTabSz="914400" rtl="1" eaLnBrk="1" latinLnBrk="0" hangingPunct="1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756720" y="1664047"/>
            <a:ext cx="1630710" cy="323850"/>
          </a:xfrm>
          <a:prstGeom prst="rect">
            <a:avLst/>
          </a:prstGeom>
          <a:solidFill>
            <a:srgbClr val="00A0A0"/>
          </a:solidFill>
          <a:ln/>
        </p:spPr>
        <p:txBody>
          <a:bodyPr wrap="square" rtlCol="1" anchor="ctr"/>
          <a:lstStyle/>
          <a:p>
            <a:pPr marL="0" indent="0" rtl="1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842977" y="1759297"/>
            <a:ext cx="1430152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he-IL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r>
              <a:rPr lang="en-US" sz="1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</a:t>
            </a: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צד לקוח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842977" y="2235547"/>
            <a:ext cx="1430152" cy="11995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945"/>
              </a:lnSpc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 4-5</a:t>
            </a:r>
            <a:endParaRPr lang="en-US" sz="675" dirty="0"/>
          </a:p>
        </p:txBody>
      </p:sp>
      <p:sp>
        <p:nvSpPr>
          <p:cNvPr id="26" name="Text 23"/>
          <p:cNvSpPr/>
          <p:nvPr/>
        </p:nvSpPr>
        <p:spPr>
          <a:xfrm>
            <a:off x="3871020" y="2431703"/>
            <a:ext cx="1402110" cy="1981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עיצוב UI/UX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ממשק משתמש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מימוש הקלטת קול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Mode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2679" y="2073622"/>
            <a:ext cx="1630710" cy="2024955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algn="r" defTabSz="914400" rtl="1" eaLnBrk="1" latinLnBrk="0" hangingPunct="1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482679" y="2073622"/>
            <a:ext cx="1630710" cy="304800"/>
          </a:xfrm>
          <a:prstGeom prst="rect">
            <a:avLst/>
          </a:prstGeom>
          <a:solidFill>
            <a:srgbClr val="C9A000"/>
          </a:solidFill>
          <a:ln/>
        </p:spPr>
        <p:txBody>
          <a:bodyPr wrap="square" rtlCol="1" anchor="ctr"/>
          <a:lstStyle/>
          <a:p>
            <a:pPr marL="0" indent="0" algn="r" defTabSz="914400" rtl="1" eaLnBrk="1" latinLnBrk="0" hangingPunct="1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568937" y="2168872"/>
            <a:ext cx="1430152" cy="1143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he-IL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en-US" sz="1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פיצ׳רים</a:t>
            </a: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מתקדמים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568937" y="2626072"/>
            <a:ext cx="1430152" cy="11995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945"/>
              </a:lnSpc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 6</a:t>
            </a:r>
            <a:endParaRPr lang="en-US" sz="675" dirty="0"/>
          </a:p>
        </p:txBody>
      </p:sp>
      <p:sp>
        <p:nvSpPr>
          <p:cNvPr id="31" name="Text 28"/>
          <p:cNvSpPr/>
          <p:nvPr/>
        </p:nvSpPr>
        <p:spPr>
          <a:xfrm>
            <a:off x="5596979" y="2822228"/>
            <a:ext cx="1402110" cy="11811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שתיקה חכם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אימות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פאנל מנהלים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שיפורי UX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208639" y="2064097"/>
            <a:ext cx="1630710" cy="2044005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/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algn="r" defTabSz="914400" rtl="1" eaLnBrk="1" latinLnBrk="0" hangingPunct="1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208639" y="2064097"/>
            <a:ext cx="1630710" cy="323850"/>
          </a:xfrm>
          <a:prstGeom prst="rect">
            <a:avLst/>
          </a:prstGeom>
          <a:solidFill>
            <a:srgbClr val="E69500"/>
          </a:solidFill>
          <a:ln/>
        </p:spPr>
        <p:txBody>
          <a:bodyPr wrap="square" rtlCol="1" anchor="ctr"/>
          <a:lstStyle/>
          <a:p>
            <a:pPr marL="0" indent="0" algn="r" defTabSz="914400" rtl="1" eaLnBrk="1" latinLnBrk="0" hangingPunct="1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294897" y="2159347"/>
            <a:ext cx="1430152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buNone/>
            </a:pPr>
            <a:r>
              <a:rPr lang="he-IL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r>
              <a:rPr lang="en-US" sz="1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</a:t>
            </a: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וסגירה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294897" y="2635597"/>
            <a:ext cx="1430152" cy="119955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945"/>
              </a:lnSpc>
              <a:buNone/>
            </a:pPr>
            <a:r>
              <a:rPr lang="en-US" sz="6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חודש 7-8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7322939" y="2831753"/>
            <a:ext cx="1402110" cy="11811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מקיפות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תיקון באגים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כתיבת תיעוד</a:t>
            </a:r>
            <a:endParaRPr lang="en-US" sz="1200" dirty="0"/>
          </a:p>
          <a:p>
            <a:pPr marL="342900" indent="-342900" algn="r" rtl="1">
              <a:lnSpc>
                <a:spcPts val="2100"/>
              </a:lnSpc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 פרויקט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04800" y="4533898"/>
            <a:ext cx="4080272" cy="419101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algn="r" defTabSz="914400" rtl="1" eaLnBrk="1" latinLnBrk="0" hangingPunct="1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379476" y="4533900"/>
            <a:ext cx="3963924" cy="1143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תוצרים צפויים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379476" y="470535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Wrapper מלאה | ממשק משתמש | תיעוד מפורט | מדריך התקנה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766556" y="4514848"/>
            <a:ext cx="4072643" cy="438151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blurRad="38100" dist="9525" dir="5400000" algn="bl" rotWithShape="0">
              <a:srgbClr val="000000">
                <a:alpha val="5000"/>
              </a:srgbClr>
            </a:outerShdw>
          </a:effectLst>
        </p:spPr>
        <p:txBody>
          <a:bodyPr wrap="square" rtlCol="1" anchor="ctr"/>
          <a:lstStyle/>
          <a:p>
            <a:pPr marL="0" indent="0" algn="r" defTabSz="914400" rtl="1" eaLnBrk="1" latinLnBrk="0" hangingPunct="1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722876" y="4533900"/>
            <a:ext cx="3963924" cy="1143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6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אבני דרך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4722876" y="470535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r" rtl="1">
              <a:lnSpc>
                <a:spcPts val="105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</a:t>
            </a:r>
            <a:r>
              <a:rPr lang="he-IL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בחודש</a:t>
            </a: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 | גרסה ראשונה בחודש 5 | גרסה סופית בחודש 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843</Words>
  <Application>Microsoft Macintosh PowerPoint</Application>
  <PresentationFormat>On-screen Show (16:9)</PresentationFormat>
  <Paragraphs>212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TTS and STT Wrapper for Robots - Project Proposal</dc:title>
  <dc:subject>Final Project in Software Development</dc:subject>
  <dc:creator>Ruppin Academic Center</dc:creator>
  <cp:lastModifiedBy>נבו יפלח</cp:lastModifiedBy>
  <cp:revision>3</cp:revision>
  <dcterms:created xsi:type="dcterms:W3CDTF">2025-12-07T16:18:29Z</dcterms:created>
  <dcterms:modified xsi:type="dcterms:W3CDTF">2025-12-07T16:47:51Z</dcterms:modified>
</cp:coreProperties>
</file>